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2D2D2D"/>
                </a:solidFill>
                <a:latin typeface="Aptos Display"/>
              </a:defRPr>
            </a:pPr>
            <a:r>
              <a:t>From Technical Expertise → Scaled Engineering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Transitioning from individual technical contribution to scalable engineering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015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4160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TRANSITION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2898648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PE  →  Senior Engineering Manager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Scale technical knowledge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Federate execution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Build engineering 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015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4160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828800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21992"/>
            <a:ext cx="294436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  <a:latin typeface="Aptos Display"/>
              </a:defRPr>
            </a:pPr>
            <a: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898648" cy="2606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Team members enabled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2 Train-the-Trainer tranches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Knowledge → distributed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015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00200"/>
            <a:ext cx="73152" cy="4160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828800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221992"/>
            <a:ext cx="294436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26080"/>
            <a:ext cx="2898648" cy="2606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Agentic AI applications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Running in Production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Innovation → business 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89320"/>
            <a:ext cx="11000232" cy="457200"/>
          </a:xfrm>
          <a:prstGeom prst="roundRect">
            <a:avLst/>
          </a:prstGeom>
          <a:solidFill>
            <a:srgbClr val="FAF5F6"/>
          </a:solidFill>
          <a:ln>
            <a:solidFill>
              <a:srgbClr val="EB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624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Aptos"/>
              </a:defRPr>
            </a:pPr>
            <a:r>
              <a:t>MY FOCUS  •  Move from individual contribution → scalable engineering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2D2D2D"/>
                </a:solidFill>
                <a:latin typeface="Aptos Display"/>
              </a:defRPr>
            </a:pPr>
            <a:r>
              <a:t>Ground Truth: From PoC Narrative to Production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Create a fact-based view of progress, readiness and execution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96969"/>
                </a:solidFill>
                <a:latin typeface="Aptos"/>
              </a:defRPr>
            </a:pPr>
            <a:r>
              <a:t>EXECUTIVE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8132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C8102E"/>
                </a:solidFill>
                <a:latin typeface="Aptos"/>
              </a:defRPr>
            </a:pPr>
            <a:r>
              <a:t>EXECUTION REALITY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53492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847088"/>
            <a:ext cx="53492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404872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31720"/>
            <a:ext cx="44622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Technology adoption is slow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79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81527"/>
            <a:ext cx="44622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PoC activity = progress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04487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831335"/>
            <a:ext cx="44622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Collaboration is the concern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286000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2212848"/>
            <a:ext cx="4416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ptos"/>
              </a:defRPr>
            </a:pPr>
            <a:r>
              <a:t>65 engineers enabled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035808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2962656"/>
            <a:ext cx="4416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2 Agentic AI applications in 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785615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7" y="3712463"/>
            <a:ext cx="4416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O2A QA not fully Production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4535424"/>
            <a:ext cx="91440" cy="914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4462272"/>
            <a:ext cx="4416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Material execution gaps remain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96969"/>
                </a:solidFill>
                <a:latin typeface="Aptos"/>
              </a:defRPr>
            </a:pPr>
            <a:r>
              <a:t>ALIGNMENT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5431536"/>
            <a:ext cx="1325880" cy="438912"/>
          </a:xfrm>
          <a:prstGeom prst="roundRect">
            <a:avLst/>
          </a:prstGeom>
          <a:solidFill>
            <a:srgbClr val="FAF5F6"/>
          </a:solidFill>
          <a:ln>
            <a:solidFill>
              <a:srgbClr val="EB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5522976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102E"/>
                </a:solidFill>
                <a:latin typeface="Aptos"/>
              </a:defRPr>
            </a:pPr>
            <a:r>
              <a:t>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504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969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5431536"/>
            <a:ext cx="1325880" cy="438912"/>
          </a:xfrm>
          <a:prstGeom prst="roundRect">
            <a:avLst/>
          </a:prstGeom>
          <a:solidFill>
            <a:srgbClr val="FAF5F6"/>
          </a:solidFill>
          <a:ln>
            <a:solidFill>
              <a:srgbClr val="EB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5522976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102E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504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969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431536"/>
            <a:ext cx="1325880" cy="438912"/>
          </a:xfrm>
          <a:prstGeom prst="round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5522976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5046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969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5431536"/>
            <a:ext cx="1325880" cy="438912"/>
          </a:xfrm>
          <a:prstGeom prst="roundRect">
            <a:avLst/>
          </a:prstGeom>
          <a:solidFill>
            <a:srgbClr val="FAF5F6"/>
          </a:solidFill>
          <a:ln>
            <a:solidFill>
              <a:srgbClr val="EB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5522976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102E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5458968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102E"/>
                </a:solidFill>
                <a:latin typeface="Aptos"/>
              </a:defRPr>
            </a:pPr>
            <a:r>
              <a:t>PoC ≠</a:t>
            </a:r>
            <a:br/>
            <a:r>
              <a:t>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2D2D2D"/>
                </a:solidFill>
                <a:latin typeface="Aptos Display"/>
              </a:defRPr>
            </a:pPr>
            <a:r>
              <a:t>Align, Learn &amp; Protect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My intent is transparency, feedback and healthy engineering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4015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73152" cy="3520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01  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2898648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Share ground reality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Surface execution risks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No surprises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72768"/>
            <a:ext cx="34015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72768"/>
            <a:ext cx="73152" cy="3520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801368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02 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31136"/>
            <a:ext cx="2898648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Open to your guidance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Where should I adapt?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Strengthen US ↔ India collaboration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72768"/>
            <a:ext cx="34015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572768"/>
            <a:ext cx="73152" cy="3520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801368"/>
            <a:ext cx="2944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Aptos"/>
              </a:defRPr>
            </a:pPr>
            <a:r>
              <a:t>03 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31136"/>
            <a:ext cx="2898648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Protect healthy culture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Set realistic expectations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Recognize contributions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58384"/>
            <a:ext cx="7406640" cy="868680"/>
          </a:xfrm>
          <a:prstGeom prst="roundRect">
            <a:avLst/>
          </a:prstGeom>
          <a:solidFill>
            <a:srgbClr val="FAF5F6"/>
          </a:solidFill>
          <a:ln>
            <a:solidFill>
              <a:srgbClr val="EB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Aptos"/>
              </a:defRPr>
            </a:pPr>
            <a:r>
              <a:t>MALAR'S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5431536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Shaped my SM journey  •  Supported the team through difficult times  •  Key partner in our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5358384"/>
            <a:ext cx="3310128" cy="86868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5504688"/>
            <a:ext cx="2944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Do the right thing for the</a:t>
            </a:r>
            <a:br/>
            <a:r>
              <a:t>business, team &amp;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